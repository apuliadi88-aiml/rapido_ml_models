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DM Sans Medium"/>
      <p:regular r:id="rId21"/>
      <p:bold r:id="rId22"/>
      <p:italic r:id="rId23"/>
      <p:boldItalic r:id="rId24"/>
    </p:embeddedFont>
    <p:embeddedFont>
      <p:font typeface="Inter Light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Inter"/>
      <p:regular r:id="rId33"/>
      <p:bold r:id="rId34"/>
      <p:italic r:id="rId35"/>
      <p:boldItalic r:id="rId36"/>
    </p:embeddedFont>
    <p:embeddedFont>
      <p:font typeface="Lato"/>
      <p:regular r:id="rId37"/>
      <p:bold r:id="rId38"/>
      <p:italic r:id="rId39"/>
      <p:boldItalic r:id="rId40"/>
    </p:embeddedFont>
    <p:embeddedFont>
      <p:font typeface="Roboto Mono"/>
      <p:regular r:id="rId41"/>
      <p:bold r:id="rId42"/>
      <p:italic r:id="rId43"/>
      <p:boldItalic r:id="rId44"/>
    </p:embeddedFont>
    <p:embeddedFont>
      <p:font typeface="Merriweather"/>
      <p:regular r:id="rId45"/>
      <p:bold r:id="rId46"/>
      <p:italic r:id="rId47"/>
      <p:boldItalic r:id="rId48"/>
    </p:embeddedFont>
    <p:embeddedFont>
      <p:font typeface="DM Sans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0D674E-3229-4F82-991D-66F3D58721DD}">
  <a:tblStyle styleId="{EC0D674E-3229-4F82-991D-66F3D58721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44" Type="http://schemas.openxmlformats.org/officeDocument/2006/relationships/font" Target="fonts/RobotoMono-boldItalic.fntdata"/><Relationship Id="rId43" Type="http://schemas.openxmlformats.org/officeDocument/2006/relationships/font" Target="fonts/RobotoMono-italic.fntdata"/><Relationship Id="rId46" Type="http://schemas.openxmlformats.org/officeDocument/2006/relationships/font" Target="fonts/Merriweather-bold.fntdata"/><Relationship Id="rId45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erriweather-boldItalic.fntdata"/><Relationship Id="rId47" Type="http://schemas.openxmlformats.org/officeDocument/2006/relationships/font" Target="fonts/Merriweather-italic.fntdata"/><Relationship Id="rId49" Type="http://schemas.openxmlformats.org/officeDocument/2006/relationships/font" Target="fonts/DM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33" Type="http://schemas.openxmlformats.org/officeDocument/2006/relationships/font" Target="fonts/Inter-regular.fntdata"/><Relationship Id="rId32" Type="http://schemas.openxmlformats.org/officeDocument/2006/relationships/font" Target="fonts/Montserrat-boldItalic.fntdata"/><Relationship Id="rId35" Type="http://schemas.openxmlformats.org/officeDocument/2006/relationships/font" Target="fonts/Inter-italic.fntdata"/><Relationship Id="rId34" Type="http://schemas.openxmlformats.org/officeDocument/2006/relationships/font" Target="fonts/Inter-bold.fntdata"/><Relationship Id="rId37" Type="http://schemas.openxmlformats.org/officeDocument/2006/relationships/font" Target="fonts/Lato-regular.fntdata"/><Relationship Id="rId36" Type="http://schemas.openxmlformats.org/officeDocument/2006/relationships/font" Target="fonts/Inter-boldItalic.fntdata"/><Relationship Id="rId39" Type="http://schemas.openxmlformats.org/officeDocument/2006/relationships/font" Target="fonts/Lato-italic.fntdata"/><Relationship Id="rId38" Type="http://schemas.openxmlformats.org/officeDocument/2006/relationships/font" Target="fonts/Lato-bold.fntdata"/><Relationship Id="rId20" Type="http://schemas.openxmlformats.org/officeDocument/2006/relationships/slide" Target="slides/slide14.xml"/><Relationship Id="rId22" Type="http://schemas.openxmlformats.org/officeDocument/2006/relationships/font" Target="fonts/DMSansMedium-bold.fntdata"/><Relationship Id="rId21" Type="http://schemas.openxmlformats.org/officeDocument/2006/relationships/font" Target="fonts/DMSansMedium-regular.fntdata"/><Relationship Id="rId24" Type="http://schemas.openxmlformats.org/officeDocument/2006/relationships/font" Target="fonts/DMSansMedium-boldItalic.fntdata"/><Relationship Id="rId23" Type="http://schemas.openxmlformats.org/officeDocument/2006/relationships/font" Target="fonts/DMSansMedium-italic.fntdata"/><Relationship Id="rId26" Type="http://schemas.openxmlformats.org/officeDocument/2006/relationships/font" Target="fonts/InterLight-bold.fntdata"/><Relationship Id="rId25" Type="http://schemas.openxmlformats.org/officeDocument/2006/relationships/font" Target="fonts/InterLight-regular.fntdata"/><Relationship Id="rId28" Type="http://schemas.openxmlformats.org/officeDocument/2006/relationships/font" Target="fonts/InterLight-boldItalic.fntdata"/><Relationship Id="rId27" Type="http://schemas.openxmlformats.org/officeDocument/2006/relationships/font" Target="fonts/InterLight-italic.fntdata"/><Relationship Id="rId29" Type="http://schemas.openxmlformats.org/officeDocument/2006/relationships/font" Target="fonts/Montserrat-regular.fntdata"/><Relationship Id="rId51" Type="http://schemas.openxmlformats.org/officeDocument/2006/relationships/font" Target="fonts/DMSans-italic.fntdata"/><Relationship Id="rId50" Type="http://schemas.openxmlformats.org/officeDocument/2006/relationships/font" Target="fonts/DMSans-bold.fntdata"/><Relationship Id="rId52" Type="http://schemas.openxmlformats.org/officeDocument/2006/relationships/font" Target="fonts/DM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b2a2fca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cb2a2fca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b2a2fca1d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b2a2fca1d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b2a2fca1d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cb2a2fca1d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b2a2fca1d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cb2a2fca1d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b2a2fca1d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cb2a2fca1d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b2a2fca1d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cb2a2fca1d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b2a2fca1d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cb2a2fca1d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cb2a2fca1d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cb2a2fca1d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b2a2fca1d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cb2a2fca1d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b2a2fca1d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cb2a2fca1d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b2a2fca1d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cb2a2fca1d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b2a2fca1d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cb2a2fca1d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b2a2fca1d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cb2a2fca1d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b2a2fca1d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cb2a2fca1d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23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36" name="Google Shape;136;p23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4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1" name="Google Shape;141;p24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2" name="Google Shape;142;p24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3" name="Google Shape;143;p24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4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5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6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54" name="Google Shape;154;p26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" name="Google Shape;155;p26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27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1" name="Google Shape;161;p27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8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8" name="Google Shape;168;p28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6" name="Google Shape;176;p29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77" name="Google Shape;177;p29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1" name="Google Shape;181;p30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2" name="Google Shape;182;p30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3" name="Google Shape;183;p30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4" name="Google Shape;184;p30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5" name="Google Shape;185;p30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6" name="Google Shape;186;p30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7" name="Google Shape;187;p30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8" name="Google Shape;188;p30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9" name="Google Shape;189;p30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3" name="Google Shape;193;p30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4" name="Google Shape;194;p30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5" name="Google Shape;195;p30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9" name="Google Shape;199;p30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0" name="Google Shape;200;p30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1" name="Google Shape;201;p30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2" name="Google Shape;202;p30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3" name="Google Shape;203;p30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4" name="Google Shape;204;p30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5" name="Google Shape;205;p30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6" name="Google Shape;206;p30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7" name="Google Shape;207;p30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8" name="Google Shape;208;p30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31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apuliadi88-aiml/Rapido_ML_models/blob/main/Analysis_Report.pdf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0" lang="en" sz="40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Rapido: Ride Data Analysis,Cancellations and Fare Forecasting</a:t>
            </a:r>
            <a:endParaRPr/>
          </a:p>
        </p:txBody>
      </p:sp>
      <p:sp>
        <p:nvSpPr>
          <p:cNvPr id="218" name="Google Shape;218;p32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Amritha Puliadi Premnath</a:t>
            </a:r>
            <a:endParaRPr/>
          </a:p>
        </p:txBody>
      </p:sp>
      <p:pic>
        <p:nvPicPr>
          <p:cNvPr descr="Blue and green wave pattern. " id="219" name="Google Shape;219;p32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797" l="0" r="0" t="797"/>
          <a:stretch/>
        </p:blipFill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33"/>
          <p:cNvSpPr txBox="1"/>
          <p:nvPr/>
        </p:nvSpPr>
        <p:spPr>
          <a:xfrm>
            <a:off x="348700" y="196725"/>
            <a:ext cx="43896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02124"/>
                </a:solidFill>
                <a:latin typeface="Inter"/>
                <a:ea typeface="Inter"/>
                <a:cs typeface="Inter"/>
                <a:sym typeface="Inter"/>
              </a:rPr>
              <a:t>About Me</a:t>
            </a:r>
            <a:endParaRPr sz="4000">
              <a:solidFill>
                <a:srgbClr val="2021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33"/>
          <p:cNvSpPr txBox="1"/>
          <p:nvPr/>
        </p:nvSpPr>
        <p:spPr>
          <a:xfrm>
            <a:off x="847275" y="1220350"/>
            <a:ext cx="77385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Computer Science postgraduate with 3+ years of industry experience.</a:t>
            </a:r>
            <a:endParaRPr sz="1800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Software Developer(Honeywell), Big Data Developer(Paypal)</a:t>
            </a:r>
            <a:endParaRPr sz="1800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Took a planned career break, currently restarting my professional journey with focused upskilling on AI &amp; Machine Learning</a:t>
            </a:r>
            <a:endParaRPr sz="1800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Strong interest in Data Analytics, Machine Learning, Artificial Intelligence and system optimization.</a:t>
            </a:r>
            <a:endParaRPr sz="1800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Passionate about solving business problems using data-driven approaches.</a:t>
            </a:r>
            <a:endParaRPr sz="2400">
              <a:solidFill>
                <a:srgbClr val="202124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34"/>
          <p:cNvSpPr txBox="1"/>
          <p:nvPr/>
        </p:nvSpPr>
        <p:spPr>
          <a:xfrm>
            <a:off x="348700" y="196725"/>
            <a:ext cx="43896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02124"/>
                </a:solidFill>
                <a:latin typeface="Inter"/>
                <a:ea typeface="Inter"/>
                <a:cs typeface="Inter"/>
                <a:sym typeface="Inter"/>
              </a:rPr>
              <a:t>Rapido Overview</a:t>
            </a:r>
            <a:endParaRPr sz="4000">
              <a:solidFill>
                <a:srgbClr val="2021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34"/>
          <p:cNvSpPr txBox="1"/>
          <p:nvPr/>
        </p:nvSpPr>
        <p:spPr>
          <a:xfrm>
            <a:off x="847275" y="1220350"/>
            <a:ext cx="7738500" cy="24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Lato"/>
              <a:buChar char="●"/>
            </a:pPr>
            <a:r>
              <a:rPr lang="en" sz="2000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Rapido is a high volume  ride-hailing  platform</a:t>
            </a:r>
            <a:br>
              <a:rPr lang="en" sz="2000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</a:br>
            <a:endParaRPr sz="2000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Lato"/>
              <a:buChar char="●"/>
            </a:pPr>
            <a:r>
              <a:rPr lang="en" sz="2000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Operates across multiple Indian cities</a:t>
            </a:r>
            <a:br>
              <a:rPr lang="en" sz="2000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</a:br>
            <a:endParaRPr sz="2000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Lato"/>
              <a:buChar char="●"/>
            </a:pPr>
            <a:r>
              <a:rPr lang="en" sz="2000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Connects riders with bike/taxi/auto  drivers via mobile app</a:t>
            </a:r>
            <a:endParaRPr sz="2000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5"/>
          <p:cNvSpPr txBox="1"/>
          <p:nvPr/>
        </p:nvSpPr>
        <p:spPr>
          <a:xfrm>
            <a:off x="348700" y="196725"/>
            <a:ext cx="6859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02124"/>
                </a:solidFill>
                <a:latin typeface="Inter"/>
                <a:ea typeface="Inter"/>
                <a:cs typeface="Inter"/>
                <a:sym typeface="Inter"/>
              </a:rPr>
              <a:t>Challenges faced by Rapido</a:t>
            </a:r>
            <a:endParaRPr sz="4000">
              <a:solidFill>
                <a:srgbClr val="2021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35"/>
          <p:cNvSpPr txBox="1"/>
          <p:nvPr/>
        </p:nvSpPr>
        <p:spPr>
          <a:xfrm>
            <a:off x="702750" y="1198325"/>
            <a:ext cx="7738500" cy="3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ato"/>
              <a:buChar char="●"/>
            </a:pPr>
            <a:r>
              <a:rPr lang="en" sz="2200">
                <a:latin typeface="Lato"/>
                <a:ea typeface="Lato"/>
                <a:cs typeface="Lato"/>
                <a:sym typeface="Lato"/>
              </a:rPr>
              <a:t>High ride cancellation rates</a:t>
            </a:r>
            <a:br>
              <a:rPr lang="en" sz="2200">
                <a:latin typeface="Lato"/>
                <a:ea typeface="Lato"/>
                <a:cs typeface="Lato"/>
                <a:sym typeface="Lato"/>
              </a:rPr>
            </a:b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ato"/>
              <a:buChar char="●"/>
            </a:pPr>
            <a:r>
              <a:rPr lang="en" sz="2200">
                <a:latin typeface="Lato"/>
                <a:ea typeface="Lato"/>
                <a:cs typeface="Lato"/>
                <a:sym typeface="Lato"/>
              </a:rPr>
              <a:t>Inconsistent driver performance</a:t>
            </a:r>
            <a:br>
              <a:rPr lang="en" sz="2200">
                <a:latin typeface="Lato"/>
                <a:ea typeface="Lato"/>
                <a:cs typeface="Lato"/>
                <a:sym typeface="Lato"/>
              </a:rPr>
            </a:b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ato"/>
              <a:buChar char="●"/>
            </a:pPr>
            <a:r>
              <a:rPr lang="en" sz="2200">
                <a:latin typeface="Lato"/>
                <a:ea typeface="Lato"/>
                <a:cs typeface="Lato"/>
                <a:sym typeface="Lato"/>
              </a:rPr>
              <a:t>Delays affecting customer satisfaction</a:t>
            </a:r>
            <a:br>
              <a:rPr lang="en" sz="2200">
                <a:latin typeface="Lato"/>
                <a:ea typeface="Lato"/>
                <a:cs typeface="Lato"/>
                <a:sym typeface="Lato"/>
              </a:rPr>
            </a:b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ato"/>
              <a:buChar char="●"/>
            </a:pPr>
            <a:r>
              <a:rPr lang="en" sz="2200">
                <a:latin typeface="Lato"/>
                <a:ea typeface="Lato"/>
                <a:cs typeface="Lato"/>
                <a:sym typeface="Lato"/>
              </a:rPr>
              <a:t>Need for data-driven pricing &amp; allocation</a:t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6"/>
          <p:cNvSpPr txBox="1"/>
          <p:nvPr/>
        </p:nvSpPr>
        <p:spPr>
          <a:xfrm>
            <a:off x="703725" y="381875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Project Objective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7" name="Google Shape;247;p36"/>
          <p:cNvSpPr txBox="1"/>
          <p:nvPr/>
        </p:nvSpPr>
        <p:spPr>
          <a:xfrm>
            <a:off x="1003700" y="1226925"/>
            <a:ext cx="7220100" cy="3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●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Analyze bookings, customers, drivers data and derive business insights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●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Identify cancellation patterns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●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Build Driver Reliability Score, Customer Loyalty Score - To identify high risk customers and drivers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●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Predict booking value based on several features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●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Provide actionable business insights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7"/>
          <p:cNvSpPr txBox="1"/>
          <p:nvPr/>
        </p:nvSpPr>
        <p:spPr>
          <a:xfrm>
            <a:off x="703725" y="381875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Dataset Overview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4" name="Google Shape;254;p37"/>
          <p:cNvSpPr txBox="1"/>
          <p:nvPr/>
        </p:nvSpPr>
        <p:spPr>
          <a:xfrm>
            <a:off x="1072800" y="1118350"/>
            <a:ext cx="5684400" cy="3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Total Bookings Analyzed - 100000 records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Data Inspection using info and shape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Data Available - Bookings, Customer, Driver, Location demand and Time Features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Some key features: Booking Value, Cancellation rate, driver rating, day of week, hour of day etc.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Data Cleaning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Handled missing values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Normalized features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Converted to correct 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data types</a:t>
            </a:r>
            <a:br>
              <a:rPr lang="en" sz="1800">
                <a:latin typeface="Lato"/>
                <a:ea typeface="Lato"/>
                <a:cs typeface="Lato"/>
                <a:sym typeface="Lato"/>
              </a:rPr>
            </a:b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8"/>
          <p:cNvSpPr txBox="1"/>
          <p:nvPr/>
        </p:nvSpPr>
        <p:spPr>
          <a:xfrm>
            <a:off x="723475" y="8570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Feature Engineering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38"/>
          <p:cNvSpPr txBox="1"/>
          <p:nvPr/>
        </p:nvSpPr>
        <p:spPr>
          <a:xfrm>
            <a:off x="74950" y="1118975"/>
            <a:ext cx="4624200" cy="3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Created Derived Metrics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Fare_per_KM</a:t>
            </a:r>
            <a:endParaRPr sz="18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Fare_per_Min</a:t>
            </a:r>
            <a:endParaRPr sz="18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Rush_Hour_Flag</a:t>
            </a:r>
            <a:endParaRPr sz="18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Long_Distance_Flag</a:t>
            </a:r>
            <a:endParaRPr sz="18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City_Pair</a:t>
            </a:r>
            <a:r>
              <a:rPr lang="en" sz="1800">
                <a:solidFill>
                  <a:srgbClr val="202124"/>
                </a:solidFill>
              </a:rPr>
              <a:t> = Pickup + Drop</a:t>
            </a:r>
            <a:endParaRPr sz="1800">
              <a:solidFill>
                <a:srgbClr val="202124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Driver_Reliability_Score</a:t>
            </a:r>
            <a:endParaRPr sz="18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Roboto Mono"/>
              <a:buChar char="●"/>
            </a:pPr>
            <a:r>
              <a:rPr lang="en" sz="1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Customer_Loyalty_Score</a:t>
            </a:r>
            <a:endParaRPr sz="1900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2" name="Google Shape;262;p38"/>
          <p:cNvSpPr txBox="1"/>
          <p:nvPr/>
        </p:nvSpPr>
        <p:spPr>
          <a:xfrm>
            <a:off x="4572000" y="750050"/>
            <a:ext cx="4624200" cy="41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hlink"/>
                </a:solidFill>
              </a:rPr>
              <a:t>Example Formula:</a:t>
            </a:r>
            <a:endParaRPr sz="1500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</a:rPr>
              <a:t>Incomplete Ratio </a:t>
            </a:r>
            <a:r>
              <a:rPr lang="en" sz="1500">
                <a:solidFill>
                  <a:schemeClr val="hlink"/>
                </a:solidFill>
              </a:rPr>
              <a:t>= incomplete_rides / total_assigned</a:t>
            </a:r>
            <a:endParaRPr sz="1500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</a:rPr>
              <a:t>Normalized rating </a:t>
            </a:r>
            <a:r>
              <a:rPr lang="en" sz="1500">
                <a:solidFill>
                  <a:schemeClr val="hlink"/>
                </a:solidFill>
              </a:rPr>
              <a:t>= rating / 5</a:t>
            </a:r>
            <a:endParaRPr sz="1500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highlight>
                  <a:schemeClr val="lt1"/>
                </a:highlight>
              </a:rPr>
              <a:t>Driver Reliability Score </a:t>
            </a:r>
            <a:r>
              <a:rPr lang="en" sz="1500">
                <a:highlight>
                  <a:schemeClr val="lt1"/>
                </a:highlight>
              </a:rPr>
              <a:t>: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30 % Acceptance Rate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25% Normalized rating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10% (1-Incomplete Ratio)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20% (1- Delay rate)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500">
                <a:highlight>
                  <a:schemeClr val="lt1"/>
                </a:highlight>
              </a:rPr>
              <a:t>15% Pickup Delay Normalized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500">
                <a:highlight>
                  <a:schemeClr val="lt1"/>
                </a:highlight>
              </a:rPr>
              <a:t>   </a:t>
            </a:r>
            <a:endParaRPr sz="1500"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39"/>
          <p:cNvSpPr txBox="1"/>
          <p:nvPr/>
        </p:nvSpPr>
        <p:spPr>
          <a:xfrm>
            <a:off x="703725" y="381875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Exploratory Data Analysis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Google Shape;269;p39"/>
          <p:cNvSpPr txBox="1"/>
          <p:nvPr/>
        </p:nvSpPr>
        <p:spPr>
          <a:xfrm>
            <a:off x="1054650" y="973825"/>
            <a:ext cx="56844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Ride volume by hour, weekday, city</a:t>
            </a:r>
            <a:br>
              <a:rPr lang="en" sz="1500">
                <a:solidFill>
                  <a:schemeClr val="hlink"/>
                </a:solidFill>
              </a:rPr>
            </a:br>
            <a:endParaRPr sz="1500">
              <a:solidFill>
                <a:schemeClr val="hlink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Cancellation heatmap across cities</a:t>
            </a:r>
            <a:br>
              <a:rPr lang="en" sz="1500">
                <a:solidFill>
                  <a:schemeClr val="hlink"/>
                </a:solidFill>
              </a:rPr>
            </a:br>
            <a:endParaRPr sz="1500">
              <a:solidFill>
                <a:schemeClr val="hlink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Distance vs Fare correlation</a:t>
            </a:r>
            <a:br>
              <a:rPr lang="en" sz="1500">
                <a:solidFill>
                  <a:schemeClr val="hlink"/>
                </a:solidFill>
              </a:rPr>
            </a:br>
            <a:endParaRPr sz="1500">
              <a:solidFill>
                <a:schemeClr val="hlink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Rating distribution</a:t>
            </a:r>
            <a:br>
              <a:rPr lang="en" sz="1500">
                <a:solidFill>
                  <a:schemeClr val="hlink"/>
                </a:solidFill>
              </a:rPr>
            </a:br>
            <a:endParaRPr sz="1500">
              <a:solidFill>
                <a:schemeClr val="hlink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Customer vs Driver behaviour comparison</a:t>
            </a:r>
            <a:br>
              <a:rPr lang="en" sz="1500">
                <a:solidFill>
                  <a:schemeClr val="hlink"/>
                </a:solidFill>
              </a:rPr>
            </a:br>
            <a:endParaRPr sz="1500">
              <a:solidFill>
                <a:schemeClr val="hlink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Traffic/Weather vs Cancellation</a:t>
            </a:r>
            <a:endParaRPr sz="1500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https://github.com/apuliadi88-aiml/Rapido_ML_models/blob/main/Analysis_Report.pdf</a:t>
            </a:r>
            <a:endParaRPr sz="15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40"/>
          <p:cNvSpPr txBox="1"/>
          <p:nvPr/>
        </p:nvSpPr>
        <p:spPr>
          <a:xfrm>
            <a:off x="286450" y="1964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Inter"/>
                <a:ea typeface="Inter"/>
                <a:cs typeface="Inter"/>
                <a:sym typeface="Inter"/>
              </a:rPr>
              <a:t>Model Building</a:t>
            </a:r>
            <a:endParaRPr sz="2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40"/>
          <p:cNvSpPr txBox="1"/>
          <p:nvPr/>
        </p:nvSpPr>
        <p:spPr>
          <a:xfrm>
            <a:off x="431600" y="672825"/>
            <a:ext cx="7658400" cy="3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>
                <a:highlight>
                  <a:schemeClr val="lt1"/>
                </a:highlight>
              </a:rPr>
              <a:t>Customer Cancellation Risk Model (Binary Classification)</a:t>
            </a:r>
            <a:endParaRPr b="1" sz="1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Predict the probability that a customer will cancel a booking using:</a:t>
            </a:r>
            <a:endParaRPr sz="1500">
              <a:highlight>
                <a:schemeClr val="lt1"/>
              </a:highlight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highlight>
                  <a:schemeClr val="lt1"/>
                </a:highlight>
              </a:rPr>
              <a:t>Historical cancellation rate</a:t>
            </a:r>
            <a:endParaRPr sz="1500">
              <a:highlight>
                <a:schemeClr val="lt1"/>
              </a:highlight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highlight>
                  <a:schemeClr val="lt1"/>
                </a:highlight>
              </a:rPr>
              <a:t>Past ratings</a:t>
            </a:r>
            <a:endParaRPr sz="1500">
              <a:highlight>
                <a:schemeClr val="lt1"/>
              </a:highlight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highlight>
                  <a:schemeClr val="lt1"/>
                </a:highlight>
              </a:rPr>
              <a:t>Peak-time behavior</a:t>
            </a:r>
            <a:endParaRPr sz="1500">
              <a:highlight>
                <a:schemeClr val="lt1"/>
              </a:highlight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highlight>
                  <a:schemeClr val="lt1"/>
                </a:highlight>
              </a:rPr>
              <a:t>Pricing sensitivity</a:t>
            </a:r>
            <a:endParaRPr b="1" sz="1500">
              <a:solidFill>
                <a:schemeClr val="hlink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highlight>
                  <a:schemeClr val="lt1"/>
                </a:highlight>
              </a:rPr>
              <a:t>	</a:t>
            </a:r>
            <a:endParaRPr b="1" sz="1500">
              <a:solidFill>
                <a:schemeClr val="hlink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highlight>
                  <a:schemeClr val="lt1"/>
                </a:highlight>
              </a:rPr>
              <a:t>	</a:t>
            </a:r>
            <a:endParaRPr b="1" sz="1500">
              <a:solidFill>
                <a:schemeClr val="hlink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highlight>
                  <a:schemeClr val="lt1"/>
                </a:highlight>
              </a:rPr>
              <a:t>	</a:t>
            </a:r>
            <a:endParaRPr b="1" sz="1500">
              <a:solidFill>
                <a:schemeClr val="hlink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hlink"/>
              </a:solidFill>
            </a:endParaRPr>
          </a:p>
        </p:txBody>
      </p:sp>
      <p:graphicFrame>
        <p:nvGraphicFramePr>
          <p:cNvPr id="277" name="Google Shape;277;p40"/>
          <p:cNvGraphicFramePr/>
          <p:nvPr/>
        </p:nvGraphicFramePr>
        <p:xfrm>
          <a:off x="524975" y="295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{EC0D674E-3229-4F82-991D-66F3D58721DD}</a:tableStyleId>
              </a:tblPr>
              <a:tblGrid>
                <a:gridCol w="1531675"/>
                <a:gridCol w="1531675"/>
                <a:gridCol w="1531675"/>
                <a:gridCol w="1531675"/>
                <a:gridCol w="1531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hlink"/>
                          </a:solidFill>
                          <a:highlight>
                            <a:schemeClr val="lt1"/>
                          </a:highlight>
                        </a:rPr>
                        <a:t>Models Used</a:t>
                      </a:r>
                      <a:endParaRPr b="1" sz="1500">
                        <a:solidFill>
                          <a:schemeClr val="hlink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761D"/>
                          </a:solidFill>
                        </a:rPr>
                        <a:t>Recall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rgbClr val="38761D"/>
                          </a:solidFill>
                          <a:highlight>
                            <a:schemeClr val="lt1"/>
                          </a:highlight>
                        </a:rPr>
                        <a:t>Logistic Regression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rgbClr val="38761D"/>
                          </a:solidFill>
                          <a:highlight>
                            <a:schemeClr val="lt1"/>
                          </a:highlight>
                        </a:rPr>
                        <a:t>Decision Tree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rgbClr val="38761D"/>
                          </a:solidFill>
                          <a:highlight>
                            <a:schemeClr val="lt1"/>
                          </a:highlight>
                        </a:rPr>
                        <a:t>Random Forest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8" name="Google Shape;278;p40"/>
          <p:cNvSpPr txBox="1"/>
          <p:nvPr/>
        </p:nvSpPr>
        <p:spPr>
          <a:xfrm>
            <a:off x="4031625" y="1618050"/>
            <a:ext cx="45813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8761D"/>
                </a:solidFill>
                <a:highlight>
                  <a:schemeClr val="lt1"/>
                </a:highlight>
              </a:rPr>
              <a:t>Recall: Missing a customer who will cancel (FN) can cost revenue.</a:t>
            </a:r>
            <a:endParaRPr b="1" sz="1500">
              <a:solidFill>
                <a:srgbClr val="38761D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highlight>
                  <a:schemeClr val="lt1"/>
                </a:highlight>
              </a:rPr>
              <a:t>	</a:t>
            </a:r>
            <a:endParaRPr b="1" sz="1500">
              <a:solidFill>
                <a:schemeClr val="hlink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highlight>
                  <a:schemeClr val="lt1"/>
                </a:highlight>
              </a:rPr>
              <a:t>	</a:t>
            </a:r>
            <a:endParaRPr b="1" sz="1500">
              <a:solidFill>
                <a:schemeClr val="hlink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highlight>
                  <a:schemeClr val="lt1"/>
                </a:highlight>
              </a:rPr>
              <a:t>	</a:t>
            </a:r>
            <a:endParaRPr b="1" sz="1500">
              <a:solidFill>
                <a:schemeClr val="hlink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4" name="Google Shape;284;p41"/>
          <p:cNvSpPr txBox="1"/>
          <p:nvPr/>
        </p:nvSpPr>
        <p:spPr>
          <a:xfrm>
            <a:off x="286450" y="1964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Inter"/>
                <a:ea typeface="Inter"/>
                <a:cs typeface="Inter"/>
                <a:sym typeface="Inter"/>
              </a:rPr>
              <a:t>Model Building</a:t>
            </a:r>
            <a:endParaRPr sz="2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41"/>
          <p:cNvSpPr txBox="1"/>
          <p:nvPr/>
        </p:nvSpPr>
        <p:spPr>
          <a:xfrm>
            <a:off x="431600" y="672825"/>
            <a:ext cx="7658400" cy="3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highlight>
                  <a:schemeClr val="lt1"/>
                </a:highlight>
              </a:rPr>
              <a:t>2.    Driver delay prediction model (Binary Classification)</a:t>
            </a:r>
            <a:endParaRPr b="1" sz="1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Predict whether a driver is likely to cause delays or incomplete rides based on:</a:t>
            </a:r>
            <a:endParaRPr sz="1500">
              <a:highlight>
                <a:schemeClr val="lt1"/>
              </a:highlight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highlight>
                  <a:schemeClr val="lt1"/>
                </a:highlight>
              </a:rPr>
              <a:t>Past Delay History</a:t>
            </a:r>
            <a:endParaRPr sz="1500">
              <a:highlight>
                <a:schemeClr val="lt1"/>
              </a:highlight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highlight>
                  <a:schemeClr val="lt1"/>
                </a:highlight>
              </a:rPr>
              <a:t>Traffic Exposure</a:t>
            </a:r>
            <a:endParaRPr sz="1500">
              <a:highlight>
                <a:schemeClr val="lt1"/>
              </a:highlight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highlight>
                  <a:schemeClr val="lt1"/>
                </a:highlight>
              </a:rPr>
              <a:t>Acceptance Behaviour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highlight>
                  <a:schemeClr val="lt1"/>
                </a:highlight>
              </a:rPr>
              <a:t>	</a:t>
            </a:r>
            <a:endParaRPr b="1" sz="1500">
              <a:solidFill>
                <a:schemeClr val="hlink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highlight>
                  <a:schemeClr val="lt1"/>
                </a:highlight>
              </a:rPr>
              <a:t>	</a:t>
            </a:r>
            <a:endParaRPr b="1" sz="1500">
              <a:solidFill>
                <a:schemeClr val="hlink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highlight>
                  <a:schemeClr val="lt1"/>
                </a:highlight>
              </a:rPr>
              <a:t>	</a:t>
            </a:r>
            <a:endParaRPr b="1" sz="1500">
              <a:solidFill>
                <a:schemeClr val="hlink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hlink"/>
              </a:solidFill>
            </a:endParaRPr>
          </a:p>
        </p:txBody>
      </p:sp>
      <p:graphicFrame>
        <p:nvGraphicFramePr>
          <p:cNvPr id="286" name="Google Shape;286;p41"/>
          <p:cNvGraphicFramePr/>
          <p:nvPr/>
        </p:nvGraphicFramePr>
        <p:xfrm>
          <a:off x="524975" y="295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{EC0D674E-3229-4F82-991D-66F3D58721DD}</a:tableStyleId>
              </a:tblPr>
              <a:tblGrid>
                <a:gridCol w="1531675"/>
                <a:gridCol w="1531675"/>
                <a:gridCol w="1531675"/>
                <a:gridCol w="1531675"/>
                <a:gridCol w="1531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hlink"/>
                          </a:solidFill>
                          <a:highlight>
                            <a:schemeClr val="lt1"/>
                          </a:highlight>
                        </a:rPr>
                        <a:t>Models Used</a:t>
                      </a:r>
                      <a:endParaRPr b="1" sz="1500">
                        <a:solidFill>
                          <a:schemeClr val="hlink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38761D"/>
                          </a:solidFill>
                        </a:rPr>
                        <a:t>Recall</a:t>
                      </a:r>
                      <a:endParaRPr b="1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hlink"/>
                          </a:solidFill>
                          <a:highlight>
                            <a:schemeClr val="lt1"/>
                          </a:highlight>
                        </a:rPr>
                        <a:t>Logistic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8761D"/>
                          </a:solidFill>
                          <a:highlight>
                            <a:schemeClr val="lt1"/>
                          </a:highlight>
                        </a:rPr>
                        <a:t>Decision Tree</a:t>
                      </a:r>
                      <a:endParaRPr b="1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hlink"/>
                          </a:solidFill>
                          <a:highlight>
                            <a:schemeClr val="lt1"/>
                          </a:highlight>
                        </a:rPr>
                        <a:t>Random 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7" name="Google Shape;287;p41"/>
          <p:cNvSpPr txBox="1"/>
          <p:nvPr/>
        </p:nvSpPr>
        <p:spPr>
          <a:xfrm>
            <a:off x="3679075" y="1383025"/>
            <a:ext cx="4653300" cy="1104900"/>
          </a:xfrm>
          <a:prstGeom prst="rect">
            <a:avLst/>
          </a:prstGeom>
          <a:noFill/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highlight>
                  <a:schemeClr val="lt1"/>
                </a:highlight>
              </a:rPr>
              <a:t>Recall: </a:t>
            </a:r>
            <a:r>
              <a:rPr b="1" lang="en">
                <a:solidFill>
                  <a:srgbClr val="38761D"/>
                </a:solidFill>
              </a:rPr>
              <a:t>We want to catch as many actual delays as possible to proactively manage them (reroute, notify customers, adjust scheduling).</a:t>
            </a:r>
            <a:br>
              <a:rPr lang="en" sz="1100">
                <a:solidFill>
                  <a:schemeClr val="hlink"/>
                </a:solidFill>
              </a:rPr>
            </a:br>
            <a:endParaRPr sz="1100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8761D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8761D"/>
                </a:solidFill>
                <a:highlight>
                  <a:schemeClr val="lt1"/>
                </a:highlight>
              </a:rPr>
              <a:t>	</a:t>
            </a:r>
            <a:endParaRPr b="1" sz="1500">
              <a:solidFill>
                <a:srgbClr val="38761D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highlight>
                  <a:schemeClr val="lt1"/>
                </a:highlight>
              </a:rPr>
              <a:t>	</a:t>
            </a:r>
            <a:endParaRPr b="1" sz="1500">
              <a:solidFill>
                <a:schemeClr val="hlink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highlight>
                  <a:schemeClr val="lt1"/>
                </a:highlight>
              </a:rPr>
              <a:t>	</a:t>
            </a:r>
            <a:endParaRPr b="1" sz="1500">
              <a:solidFill>
                <a:schemeClr val="hlink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42"/>
          <p:cNvSpPr txBox="1"/>
          <p:nvPr/>
        </p:nvSpPr>
        <p:spPr>
          <a:xfrm>
            <a:off x="286450" y="1964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Inter"/>
                <a:ea typeface="Inter"/>
                <a:cs typeface="Inter"/>
                <a:sym typeface="Inter"/>
              </a:rPr>
              <a:t>Model Building</a:t>
            </a:r>
            <a:endParaRPr sz="2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4" name="Google Shape;294;p42"/>
          <p:cNvSpPr txBox="1"/>
          <p:nvPr/>
        </p:nvSpPr>
        <p:spPr>
          <a:xfrm>
            <a:off x="431600" y="672825"/>
            <a:ext cx="7658400" cy="3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highlight>
                  <a:schemeClr val="lt1"/>
                </a:highlight>
              </a:rPr>
              <a:t>3</a:t>
            </a:r>
            <a:r>
              <a:rPr b="1" lang="en" sz="1500">
                <a:highlight>
                  <a:schemeClr val="lt1"/>
                </a:highlight>
              </a:rPr>
              <a:t>.   Fair Prediction Model (Regression) </a:t>
            </a:r>
            <a:endParaRPr b="1" sz="1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Predict the expected booking value prior to trip confirmation based on:</a:t>
            </a:r>
            <a:endParaRPr sz="1500">
              <a:highlight>
                <a:schemeClr val="lt1"/>
              </a:highlight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highlight>
                  <a:schemeClr val="lt1"/>
                </a:highlight>
              </a:rPr>
              <a:t>Distance</a:t>
            </a:r>
            <a:endParaRPr sz="1500">
              <a:highlight>
                <a:schemeClr val="lt1"/>
              </a:highlight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highlight>
                  <a:schemeClr val="lt1"/>
                </a:highlight>
              </a:rPr>
              <a:t>Traffic &amp; Weather</a:t>
            </a:r>
            <a:endParaRPr sz="1500">
              <a:highlight>
                <a:schemeClr val="lt1"/>
              </a:highlight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highlight>
                  <a:schemeClr val="lt1"/>
                </a:highlight>
              </a:rPr>
              <a:t>Time of Day</a:t>
            </a:r>
            <a:endParaRPr sz="1500">
              <a:highlight>
                <a:schemeClr val="lt1"/>
              </a:highlight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highlight>
                  <a:schemeClr val="lt1"/>
                </a:highlight>
              </a:rPr>
              <a:t>Vehicle Type</a:t>
            </a:r>
            <a:endParaRPr sz="1500">
              <a:highlight>
                <a:schemeClr val="lt1"/>
              </a:highlight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highlight>
                  <a:schemeClr val="lt1"/>
                </a:highlight>
              </a:rPr>
              <a:t>Surge Dynamics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highlight>
                  <a:schemeClr val="lt1"/>
                </a:highlight>
              </a:rPr>
              <a:t>	</a:t>
            </a:r>
            <a:endParaRPr b="1" sz="1500">
              <a:solidFill>
                <a:schemeClr val="hlink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highlight>
                  <a:schemeClr val="lt1"/>
                </a:highlight>
              </a:rPr>
              <a:t>	</a:t>
            </a:r>
            <a:endParaRPr b="1" sz="1500">
              <a:solidFill>
                <a:schemeClr val="hlink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highlight>
                  <a:schemeClr val="lt1"/>
                </a:highlight>
              </a:rPr>
              <a:t>	</a:t>
            </a:r>
            <a:endParaRPr b="1" sz="1500">
              <a:solidFill>
                <a:schemeClr val="hlink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hlink"/>
              </a:solidFill>
            </a:endParaRPr>
          </a:p>
        </p:txBody>
      </p:sp>
      <p:graphicFrame>
        <p:nvGraphicFramePr>
          <p:cNvPr id="295" name="Google Shape;295;p42"/>
          <p:cNvGraphicFramePr/>
          <p:nvPr/>
        </p:nvGraphicFramePr>
        <p:xfrm>
          <a:off x="524975" y="315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{EC0D674E-3229-4F82-991D-66F3D58721DD}</a:tableStyleId>
              </a:tblPr>
              <a:tblGrid>
                <a:gridCol w="2114150"/>
                <a:gridCol w="1087400"/>
                <a:gridCol w="1393475"/>
                <a:gridCol w="1531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hlink"/>
                          </a:solidFill>
                          <a:highlight>
                            <a:schemeClr val="lt1"/>
                          </a:highlight>
                        </a:rPr>
                        <a:t>Models Used</a:t>
                      </a:r>
                      <a:endParaRPr b="1" sz="1500">
                        <a:solidFill>
                          <a:schemeClr val="hlink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38761D"/>
                          </a:solidFill>
                        </a:rPr>
                        <a:t>R2 Score</a:t>
                      </a:r>
                      <a:endParaRPr b="1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38761D"/>
                          </a:solidFill>
                        </a:rPr>
                        <a:t>RMSE</a:t>
                      </a:r>
                      <a:endParaRPr b="1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hlink"/>
                          </a:solidFill>
                          <a:highlight>
                            <a:schemeClr val="lt1"/>
                          </a:highlight>
                        </a:rPr>
                        <a:t>Linear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38.31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27.85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hlink"/>
                          </a:solidFill>
                          <a:highlight>
                            <a:schemeClr val="lt1"/>
                          </a:highlight>
                        </a:rPr>
                        <a:t>Decision Tree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9.04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8761D"/>
                          </a:solidFill>
                          <a:highlight>
                            <a:schemeClr val="lt1"/>
                          </a:highlight>
                        </a:rPr>
                        <a:t>Random Forest</a:t>
                      </a:r>
                      <a:endParaRPr b="1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11.7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8.6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1" name="Google Shape;301;p43"/>
          <p:cNvSpPr txBox="1"/>
          <p:nvPr/>
        </p:nvSpPr>
        <p:spPr>
          <a:xfrm>
            <a:off x="286450" y="1964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Inter"/>
                <a:ea typeface="Inter"/>
                <a:cs typeface="Inter"/>
                <a:sym typeface="Inter"/>
              </a:rPr>
              <a:t>Model Building</a:t>
            </a:r>
            <a:endParaRPr sz="2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2" name="Google Shape;302;p43"/>
          <p:cNvSpPr txBox="1"/>
          <p:nvPr/>
        </p:nvSpPr>
        <p:spPr>
          <a:xfrm>
            <a:off x="381000" y="672825"/>
            <a:ext cx="77091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highlight>
                  <a:schemeClr val="lt1"/>
                </a:highlight>
              </a:rPr>
              <a:t>4. </a:t>
            </a:r>
            <a:r>
              <a:rPr b="1" lang="en" sz="1500">
                <a:highlight>
                  <a:schemeClr val="lt1"/>
                </a:highlight>
              </a:rPr>
              <a:t>  Ride Outcome Prediction (Multi- class classification)</a:t>
            </a:r>
            <a:endParaRPr b="1" sz="1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Predict whether the booking will be: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highlight>
                  <a:schemeClr val="lt1"/>
                </a:highlight>
              </a:rPr>
              <a:t>Completed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highlight>
                  <a:schemeClr val="lt1"/>
                </a:highlight>
              </a:rPr>
              <a:t>Incomplete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highlight>
                  <a:schemeClr val="lt1"/>
                </a:highlight>
              </a:rPr>
              <a:t>Cancelled</a:t>
            </a:r>
            <a:endParaRPr b="1" sz="1500">
              <a:solidFill>
                <a:schemeClr val="hlink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highlight>
                  <a:schemeClr val="lt1"/>
                </a:highlight>
              </a:rPr>
              <a:t>	</a:t>
            </a:r>
            <a:endParaRPr b="1" sz="1500">
              <a:solidFill>
                <a:schemeClr val="hlink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highlight>
                  <a:schemeClr val="lt1"/>
                </a:highlight>
              </a:rPr>
              <a:t>	</a:t>
            </a:r>
            <a:endParaRPr b="1" sz="1500">
              <a:solidFill>
                <a:schemeClr val="hlink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hlink"/>
              </a:solidFill>
            </a:endParaRPr>
          </a:p>
        </p:txBody>
      </p:sp>
      <p:graphicFrame>
        <p:nvGraphicFramePr>
          <p:cNvPr id="303" name="Google Shape;303;p43"/>
          <p:cNvGraphicFramePr/>
          <p:nvPr/>
        </p:nvGraphicFramePr>
        <p:xfrm>
          <a:off x="54310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{EC0D674E-3229-4F82-991D-66F3D58721DD}</a:tableStyleId>
              </a:tblPr>
              <a:tblGrid>
                <a:gridCol w="1531675"/>
                <a:gridCol w="1531675"/>
                <a:gridCol w="1531675"/>
                <a:gridCol w="1531675"/>
                <a:gridCol w="1531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hlink"/>
                          </a:solidFill>
                          <a:highlight>
                            <a:schemeClr val="lt1"/>
                          </a:highlight>
                        </a:rPr>
                        <a:t>Models Used</a:t>
                      </a:r>
                      <a:endParaRPr b="1" sz="1500">
                        <a:solidFill>
                          <a:schemeClr val="hlink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hlink"/>
                          </a:solidFill>
                          <a:highlight>
                            <a:schemeClr val="lt1"/>
                          </a:highlight>
                        </a:rPr>
                        <a:t>Logistic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hlink"/>
                          </a:solidFill>
                          <a:highlight>
                            <a:schemeClr val="lt1"/>
                          </a:highlight>
                        </a:rPr>
                        <a:t>Decision Tree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8761D"/>
                          </a:solidFill>
                          <a:highlight>
                            <a:schemeClr val="lt1"/>
                          </a:highlight>
                        </a:rPr>
                        <a:t>Random Forest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p44"/>
          <p:cNvSpPr txBox="1"/>
          <p:nvPr/>
        </p:nvSpPr>
        <p:spPr>
          <a:xfrm>
            <a:off x="703725" y="381875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Inter"/>
                <a:ea typeface="Inter"/>
                <a:cs typeface="Inter"/>
                <a:sym typeface="Inter"/>
              </a:rPr>
              <a:t>Key Insights and Business Impact</a:t>
            </a:r>
            <a:endParaRPr sz="2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0" name="Google Shape;310;p44"/>
          <p:cNvSpPr txBox="1"/>
          <p:nvPr/>
        </p:nvSpPr>
        <p:spPr>
          <a:xfrm>
            <a:off x="1054650" y="973825"/>
            <a:ext cx="56844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Reliability scoring helps prioritize top drivers and reduce cancellations.</a:t>
            </a:r>
            <a:endParaRPr sz="1500">
              <a:solidFill>
                <a:schemeClr val="hlink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Data-driven pricing improves </a:t>
            </a:r>
            <a:r>
              <a:rPr lang="en" sz="1500">
                <a:solidFill>
                  <a:schemeClr val="hlink"/>
                </a:solidFill>
              </a:rPr>
              <a:t>revenue</a:t>
            </a:r>
            <a:r>
              <a:rPr lang="en" sz="1500">
                <a:solidFill>
                  <a:schemeClr val="hlink"/>
                </a:solidFill>
              </a:rPr>
              <a:t> forecasting.</a:t>
            </a:r>
            <a:endParaRPr sz="1500">
              <a:solidFill>
                <a:schemeClr val="hlink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Drivers with low acceptance rate increase cancellations</a:t>
            </a:r>
            <a:endParaRPr sz="1500">
              <a:solidFill>
                <a:schemeClr val="hlink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Pickup delay/Avg wait time strongly impacts customer experience</a:t>
            </a:r>
            <a:endParaRPr sz="1500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Business Benefits:</a:t>
            </a:r>
            <a:endParaRPr sz="18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Reduced Cancellations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Better Driver Allocation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Increased Operational Efficiency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Higher customer retention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5"/>
          <p:cNvSpPr txBox="1"/>
          <p:nvPr/>
        </p:nvSpPr>
        <p:spPr>
          <a:xfrm>
            <a:off x="703725" y="381875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Inter"/>
                <a:ea typeface="Inter"/>
                <a:cs typeface="Inter"/>
                <a:sym typeface="Inter"/>
              </a:rPr>
              <a:t>Conclusion and Future Scope</a:t>
            </a:r>
            <a:endParaRPr sz="2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1054650" y="973825"/>
            <a:ext cx="56844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Did EDA on the rapido dataset to derive valuable insights that helps business in optimizing their platform and increase revenue.</a:t>
            </a:r>
            <a:endParaRPr sz="1500">
              <a:solidFill>
                <a:schemeClr val="hlink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Built models to identify drivers that predicts fare, identify customer cancellation risk, driver delay risk and ride outcome prediction.</a:t>
            </a:r>
            <a:endParaRPr sz="1500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Future Improvements</a:t>
            </a:r>
            <a:endParaRPr sz="18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API - deployment of models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Creating interactive dashboard for models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